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4" r:id="rId9"/>
    <p:sldId id="269" r:id="rId10"/>
    <p:sldId id="263" r:id="rId11"/>
    <p:sldId id="265" r:id="rId12"/>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874"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76" d="100"/>
          <a:sy n="76" d="100"/>
        </p:scale>
        <p:origin x="-480" y="-114"/>
      </p:cViewPr>
      <p:guideLst>
        <p:guide orient="horz" pos="2874"/>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B86612-B127-4CD0-BF15-66D49A7175F7}" type="datetimeFigureOut">
              <a:rPr lang="en-IN" smtClean="0"/>
              <a:t>30-08-2025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F439ED-1E90-4106-847A-8EF19031FE2F}" type="slidenum">
              <a:rPr lang="en-IN" smtClean="0"/>
              <a:t>‹#›</a:t>
            </a:fld>
            <a:endParaRPr lang="en-IN"/>
          </a:p>
        </p:txBody>
      </p:sp>
    </p:spTree>
    <p:extLst>
      <p:ext uri="{BB962C8B-B14F-4D97-AF65-F5344CB8AC3E}">
        <p14:creationId xmlns:p14="http://schemas.microsoft.com/office/powerpoint/2010/main" val="18806583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439ED-1E90-4106-847A-8EF19031FE2F}" type="slidenum">
              <a:rPr lang="en-IN" smtClean="0"/>
              <a:t>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panose="020B0603020202020204"/>
                <a:cs typeface="Trebuchet MS" panose="020B0603020202020204"/>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panose="020B0603020202020204"/>
                <a:cs typeface="Trebuchet MS" panose="020B0603020202020204"/>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panose="020B0603020202020204"/>
                <a:cs typeface="Trebuchet MS" panose="020B0603020202020204"/>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8/30/2025</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panose="020B0603020202020204"/>
                <a:cs typeface="Trebuchet MS" panose="020B0603020202020204"/>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8/30/2025</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8/30/2025</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a:t>8/30/2025</a:t>
            </a:fld>
            <a:endParaRPr lang="en-US"/>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panose="020B0603020202020204"/>
                <a:cs typeface="Trebuchet MS" panose="020B0603020202020204"/>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8/30/2025</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panose="020B0603020202020204"/>
                <a:cs typeface="Trebuchet MS" panose="020B0603020202020204"/>
              </a:defRPr>
            </a:lvl1pPr>
          </a:lstStyle>
          <a:p>
            <a:pPr marL="38100">
              <a:lnSpc>
                <a:spcPct val="100000"/>
              </a:lnSpc>
              <a:spcBef>
                <a:spcPts val="55"/>
              </a:spcBef>
            </a:pPr>
            <a:fld id="{81D60167-4931-47E6-BA6A-407CBD079E47}" type="slidenum">
              <a:rPr spc="10" dirty="0"/>
              <a:t>‹#›</a:t>
            </a:fld>
            <a:endParaRPr spc="1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76299" y="990600"/>
            <a:ext cx="1743075" cy="1333500"/>
            <a:chOff x="742950" y="1104900"/>
            <a:chExt cx="1743075" cy="1333500"/>
          </a:xfrm>
        </p:grpSpPr>
        <p:sp>
          <p:nvSpPr>
            <p:cNvPr id="3" name="object 3"/>
            <p:cNvSpPr/>
            <p:nvPr/>
          </p:nvSpPr>
          <p:spPr>
            <a:xfrm>
              <a:off x="742950" y="1381125"/>
              <a:ext cx="1228725" cy="1057275"/>
            </a:xfrm>
            <a:custGeom>
              <a:avLst/>
              <a:gdLst/>
              <a:ahLst/>
              <a:cxnLst/>
              <a:rect l="l" t="t" r="r" b="b"/>
              <a:pathLst>
                <a:path w="1228725" h="1057275">
                  <a:moveTo>
                    <a:pt x="964438" y="0"/>
                  </a:moveTo>
                  <a:lnTo>
                    <a:pt x="264312" y="0"/>
                  </a:lnTo>
                  <a:lnTo>
                    <a:pt x="0" y="528701"/>
                  </a:lnTo>
                  <a:lnTo>
                    <a:pt x="264312" y="1057275"/>
                  </a:lnTo>
                  <a:lnTo>
                    <a:pt x="964438" y="1057275"/>
                  </a:lnTo>
                  <a:lnTo>
                    <a:pt x="1228725" y="528701"/>
                  </a:lnTo>
                  <a:lnTo>
                    <a:pt x="964438" y="0"/>
                  </a:lnTo>
                  <a:close/>
                </a:path>
              </a:pathLst>
            </a:custGeom>
            <a:solidFill>
              <a:srgbClr val="5FCAEE"/>
            </a:solidFill>
          </p:spPr>
          <p:txBody>
            <a:bodyPr wrap="square" lIns="0" tIns="0" rIns="0" bIns="0" rtlCol="0"/>
            <a:lstStyle/>
            <a:p>
              <a:endParaRPr/>
            </a:p>
          </p:txBody>
        </p:sp>
        <p:sp>
          <p:nvSpPr>
            <p:cNvPr id="4" name="object 4"/>
            <p:cNvSpPr/>
            <p:nvPr/>
          </p:nvSpPr>
          <p:spPr>
            <a:xfrm>
              <a:off x="1838325" y="1104900"/>
              <a:ext cx="647700" cy="561975"/>
            </a:xfrm>
            <a:custGeom>
              <a:avLst/>
              <a:gdLst/>
              <a:ahLst/>
              <a:cxnLst/>
              <a:rect l="l" t="t" r="r" b="b"/>
              <a:pathLst>
                <a:path w="647700" h="561975">
                  <a:moveTo>
                    <a:pt x="507238" y="0"/>
                  </a:moveTo>
                  <a:lnTo>
                    <a:pt x="140462" y="0"/>
                  </a:lnTo>
                  <a:lnTo>
                    <a:pt x="0" y="280924"/>
                  </a:lnTo>
                  <a:lnTo>
                    <a:pt x="140462" y="561975"/>
                  </a:lnTo>
                  <a:lnTo>
                    <a:pt x="507238" y="561975"/>
                  </a:lnTo>
                  <a:lnTo>
                    <a:pt x="647700" y="280924"/>
                  </a:lnTo>
                  <a:lnTo>
                    <a:pt x="507238" y="0"/>
                  </a:lnTo>
                  <a:close/>
                </a:path>
              </a:pathLst>
            </a:custGeom>
            <a:solidFill>
              <a:srgbClr val="2D936B"/>
            </a:solidFill>
          </p:spPr>
          <p:txBody>
            <a:bodyPr wrap="square" lIns="0" tIns="0" rIns="0" bIns="0" rtlCol="0"/>
            <a:lstStyle/>
            <a:p>
              <a:endParaRPr/>
            </a:p>
          </p:txBody>
        </p:sp>
      </p:grpSp>
      <p:sp>
        <p:nvSpPr>
          <p:cNvPr id="5" name="object 5"/>
          <p:cNvSpPr/>
          <p:nvPr/>
        </p:nvSpPr>
        <p:spPr>
          <a:xfrm>
            <a:off x="3752850" y="1190625"/>
            <a:ext cx="1666875" cy="1438275"/>
          </a:xfrm>
          <a:custGeom>
            <a:avLst/>
            <a:gdLst/>
            <a:ahLst/>
            <a:cxnLst/>
            <a:rect l="l" t="t" r="r" b="b"/>
            <a:pathLst>
              <a:path w="1666875" h="1438275">
                <a:moveTo>
                  <a:pt x="1307338" y="0"/>
                </a:moveTo>
                <a:lnTo>
                  <a:pt x="359537" y="0"/>
                </a:lnTo>
                <a:lnTo>
                  <a:pt x="0" y="719074"/>
                </a:lnTo>
                <a:lnTo>
                  <a:pt x="359537" y="1438275"/>
                </a:lnTo>
                <a:lnTo>
                  <a:pt x="1307338" y="1438275"/>
                </a:lnTo>
                <a:lnTo>
                  <a:pt x="1666875" y="719074"/>
                </a:lnTo>
                <a:lnTo>
                  <a:pt x="1307338" y="0"/>
                </a:lnTo>
                <a:close/>
              </a:path>
            </a:pathLst>
          </a:custGeom>
          <a:solidFill>
            <a:srgbClr val="42D0A1"/>
          </a:solidFill>
        </p:spPr>
        <p:txBody>
          <a:bodyPr wrap="square" lIns="0" tIns="0" rIns="0" bIns="0" rtlCol="0"/>
          <a:lstStyle/>
          <a:p>
            <a:endParaRPr/>
          </a:p>
        </p:txBody>
      </p:sp>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xfrm>
            <a:off x="1523999" y="19665"/>
            <a:ext cx="7629525" cy="1001556"/>
          </a:xfrm>
          <a:prstGeom prst="rect">
            <a:avLst/>
          </a:prstGeom>
        </p:spPr>
        <p:txBody>
          <a:bodyPr vert="horz" wrap="square" lIns="0" tIns="16510" rIns="0" bIns="0" rtlCol="0">
            <a:spAutoFit/>
          </a:bodyPr>
          <a:lstStyle/>
          <a:p>
            <a:pPr marL="3213735">
              <a:spcBef>
                <a:spcPts val="130"/>
              </a:spcBef>
            </a:pPr>
            <a:r>
              <a:rPr lang="en-US" b="1" i="0" dirty="0">
                <a:solidFill>
                  <a:srgbClr val="0F0F0F"/>
                </a:solidFill>
                <a:effectLst/>
                <a:latin typeface="Times New Roman" panose="02020603050405020304" pitchFamily="18" charset="0"/>
                <a:cs typeface="Times New Roman" panose="02020603050405020304" pitchFamily="18" charset="0"/>
              </a:rPr>
              <a:t>Digital Portfolio </a:t>
            </a:r>
            <a:r>
              <a:rPr lang="en-US" b="1" i="0" dirty="0">
                <a:solidFill>
                  <a:srgbClr val="0F0F0F"/>
                </a:solidFill>
                <a:effectLst/>
                <a:latin typeface="Roboto" panose="020F0502020204030204" pitchFamily="2" charset="0"/>
              </a:rPr>
              <a:t/>
            </a:r>
            <a:br>
              <a:rPr lang="en-US" b="1" i="0" dirty="0">
                <a:solidFill>
                  <a:srgbClr val="0F0F0F"/>
                </a:solidFill>
                <a:effectLst/>
                <a:latin typeface="Roboto" panose="020F0502020204030204" pitchFamily="2" charset="0"/>
              </a:rPr>
            </a:br>
            <a:endParaRPr spc="15" dirty="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sp>
        <p:nvSpPr>
          <p:cNvPr id="14" name="TextBox 13"/>
          <p:cNvSpPr txBox="1"/>
          <p:nvPr/>
        </p:nvSpPr>
        <p:spPr>
          <a:xfrm>
            <a:off x="2554542" y="3314150"/>
            <a:ext cx="8610600" cy="2308324"/>
          </a:xfrm>
          <a:prstGeom prst="rect">
            <a:avLst/>
          </a:prstGeom>
          <a:noFill/>
        </p:spPr>
        <p:txBody>
          <a:bodyPr wrap="square" lIns="91440" tIns="45720" rIns="91440" bIns="45720" rtlCol="0" anchor="t">
            <a:spAutoFit/>
          </a:bodyPr>
          <a:lstStyle/>
          <a:p>
            <a:r>
              <a:rPr lang="en-US" sz="2400" dirty="0"/>
              <a:t>STUDENT </a:t>
            </a:r>
            <a:r>
              <a:rPr lang="en-US" sz="2400" dirty="0" smtClean="0"/>
              <a:t>NAME: </a:t>
            </a:r>
            <a:r>
              <a:rPr lang="en-US" sz="2400" dirty="0" err="1" smtClean="0"/>
              <a:t>L.Monika</a:t>
            </a:r>
            <a:endParaRPr lang="en-US" sz="2400" dirty="0"/>
          </a:p>
          <a:p>
            <a:r>
              <a:rPr lang="en-US" sz="2400" dirty="0"/>
              <a:t>REGISTER NO AND NMID: </a:t>
            </a:r>
            <a:r>
              <a:rPr lang="en-US" sz="2400" dirty="0"/>
              <a:t>E04DC7ADD672750B2574E69E250A6A56</a:t>
            </a:r>
            <a:endParaRPr lang="en-US" altLang="en-GB" sz="2400" dirty="0">
              <a:cs typeface="Calibri" panose="020F0502020204030204"/>
            </a:endParaRPr>
          </a:p>
          <a:p>
            <a:r>
              <a:rPr lang="en-US" sz="2400" dirty="0"/>
              <a:t>DEPARTMENT: </a:t>
            </a:r>
            <a:r>
              <a:rPr lang="en-US" sz="2400" dirty="0" smtClean="0"/>
              <a:t>BCA</a:t>
            </a:r>
            <a:endParaRPr lang="en-US" sz="2400" dirty="0"/>
          </a:p>
          <a:p>
            <a:r>
              <a:rPr lang="en-US" sz="2400" dirty="0"/>
              <a:t>COLLEGE: </a:t>
            </a:r>
            <a:r>
              <a:rPr lang="en-US" sz="2400" dirty="0" smtClean="0"/>
              <a:t>Sri </a:t>
            </a:r>
            <a:r>
              <a:rPr lang="en-US" sz="2400" dirty="0" err="1" smtClean="0"/>
              <a:t>Akilandeswari</a:t>
            </a:r>
            <a:r>
              <a:rPr lang="en-US" sz="2400" dirty="0" smtClean="0"/>
              <a:t> women’s collage ,</a:t>
            </a:r>
            <a:r>
              <a:rPr lang="en-US" sz="2400" dirty="0" err="1" smtClean="0"/>
              <a:t>wandiwash</a:t>
            </a:r>
            <a:endParaRPr lang="en-US" sz="2400" dirty="0" smtClean="0"/>
          </a:p>
          <a:p>
            <a:r>
              <a:rPr lang="en-US" sz="2400" dirty="0"/>
              <a:t>UNIVERSITY</a:t>
            </a:r>
            <a:r>
              <a:rPr lang="en-US" sz="2400" dirty="0" smtClean="0"/>
              <a:t>: THIRUVALLUVAR </a:t>
            </a:r>
            <a:r>
              <a:rPr lang="en-US" sz="2400" dirty="0"/>
              <a:t>UNIVERSITY</a:t>
            </a:r>
          </a:p>
          <a:p>
            <a:r>
              <a:rPr lang="en-US" sz="2400" dirty="0" smtClean="0">
                <a:latin typeface="Castellar" pitchFamily="18" charset="0"/>
              </a:rPr>
              <a:t>     </a:t>
            </a:r>
            <a:endParaRPr lang="en-IN" sz="2400" dirty="0">
              <a:latin typeface="Castellar"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flipV="1">
            <a:off x="2699385" y="7010400"/>
            <a:ext cx="9492615" cy="274320"/>
          </a:xfrm>
          <a:custGeom>
            <a:avLst/>
            <a:gdLst>
              <a:gd name="connsiteX0" fmla="*/ 19200 w 19200"/>
              <a:gd name="connsiteY0" fmla="*/ 0 h 10800"/>
              <a:gd name="connsiteX1" fmla="*/ 2593 w 19200"/>
              <a:gd name="connsiteY1" fmla="*/ 10080 h 10800"/>
              <a:gd name="connsiteX2" fmla="*/ 0 w 19200"/>
              <a:gd name="connsiteY2" fmla="*/ 10800 h 10800"/>
              <a:gd name="connsiteX3" fmla="*/ 19200 w 19200"/>
              <a:gd name="connsiteY3" fmla="*/ 10800 h 10800"/>
              <a:gd name="connsiteX4" fmla="*/ 19200 w 19200"/>
              <a:gd name="connsiteY4" fmla="*/ 0 h 10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200" h="10800">
                <a:moveTo>
                  <a:pt x="19200" y="0"/>
                </a:moveTo>
                <a:lnTo>
                  <a:pt x="2593" y="10080"/>
                </a:lnTo>
                <a:lnTo>
                  <a:pt x="0" y="10800"/>
                </a:lnTo>
                <a:lnTo>
                  <a:pt x="19200" y="10800"/>
                </a:lnTo>
                <a:lnTo>
                  <a:pt x="19200" y="0"/>
                </a:lnTo>
                <a:close/>
              </a:path>
            </a:pathLst>
          </a:custGeom>
          <a:solidFill>
            <a:srgbClr val="F1F1F1"/>
          </a:solidFill>
        </p:spPr>
        <p:txBody>
          <a:bodyPr wrap="square" lIns="0" tIns="0" rIns="0" bIns="0" rtlCol="0"/>
          <a:lstStyle/>
          <a:p>
            <a:r>
              <a:rPr lang="en-IN" dirty="0">
                <a:solidFill>
                  <a:srgbClr val="FF0000"/>
                </a:solidFill>
                <a:latin typeface="Sitka Heading" panose="02000505000000020004" charset="0"/>
                <a:cs typeface="Sitka Heading" panose="02000505000000020004" charset="0"/>
              </a:rPr>
              <a:t>d</a:t>
            </a: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5" name="object 15"/>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xfrm>
            <a:off x="838200" y="838200"/>
            <a:ext cx="10224770" cy="910590"/>
          </a:xfrm>
          <a:prstGeom prst="rect">
            <a:avLst/>
          </a:prstGeom>
        </p:spPr>
        <p:txBody>
          <a:bodyPr vert="horz" wrap="square" lIns="0" tIns="16510" rIns="0" bIns="0" rtlCol="0">
            <a:noAutofit/>
          </a:bodyPr>
          <a:lstStyle/>
          <a:p>
            <a:pPr marL="12700">
              <a:lnSpc>
                <a:spcPct val="100000"/>
              </a:lnSpc>
              <a:spcBef>
                <a:spcPts val="130"/>
              </a:spcBef>
            </a:pPr>
            <a:r>
              <a:rPr sz="4250" spc="5" dirty="0"/>
              <a:t>PROJECT</a:t>
            </a:r>
            <a:r>
              <a:rPr sz="4250" spc="-85" dirty="0"/>
              <a:t> </a:t>
            </a:r>
            <a:r>
              <a:rPr sz="4250" spc="25" dirty="0"/>
              <a:t>TITLE</a:t>
            </a:r>
            <a:r>
              <a:rPr lang="en-IN" sz="4250" spc="25" dirty="0"/>
              <a:t>                                                      </a:t>
            </a:r>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sp>
        <p:nvSpPr>
          <p:cNvPr id="23" name="Text Box 22"/>
          <p:cNvSpPr txBox="1"/>
          <p:nvPr/>
        </p:nvSpPr>
        <p:spPr>
          <a:xfrm>
            <a:off x="685800" y="2059305"/>
            <a:ext cx="10726420" cy="1445260"/>
          </a:xfrm>
          <a:prstGeom prst="rect">
            <a:avLst/>
          </a:prstGeom>
          <a:noFill/>
        </p:spPr>
        <p:txBody>
          <a:bodyPr wrap="square" rtlCol="0">
            <a:spAutoFit/>
          </a:bodyPr>
          <a:lstStyle/>
          <a:p>
            <a:pPr algn="ctr"/>
            <a:r>
              <a:rPr lang="en-US" altLang="en-GB" sz="4400"/>
              <a:t>STUDENT DIGITAL PORTFOLIO USING FRONT END DEVELOPMENT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6200" y="28579"/>
            <a:ext cx="12481713"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
        <p:nvSpPr>
          <p:cNvPr id="23" name="TextBox 22"/>
          <p:cNvSpPr txBox="1"/>
          <p:nvPr/>
        </p:nvSpPr>
        <p:spPr>
          <a:xfrm>
            <a:off x="2509807" y="1041533"/>
            <a:ext cx="5029200" cy="4832092"/>
          </a:xfrm>
          <a:prstGeom prst="rect">
            <a:avLst/>
          </a:prstGeom>
          <a:noFill/>
        </p:spPr>
        <p:txBody>
          <a:bodyPr wrap="square" rtlCol="0">
            <a:spAutoFit/>
          </a:bodyPr>
          <a:lstStyle/>
          <a:p>
            <a:pPr algn="l"/>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Tools and Technologies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Portfolio design and Layout</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Features and Functionality</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Results and </a:t>
            </a:r>
            <a:r>
              <a:rPr lang="en-US" sz="2800" dirty="0">
                <a:solidFill>
                  <a:srgbClr val="0D0D0D"/>
                </a:solidFill>
                <a:latin typeface="Times New Roman" panose="02020603050405020304" pitchFamily="18" charset="0"/>
                <a:cs typeface="Times New Roman" panose="02020603050405020304" pitchFamily="18" charset="0"/>
              </a:rPr>
              <a:t>Screenshots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lang="en-US" sz="2800" dirty="0" err="1">
                <a:solidFill>
                  <a:srgbClr val="0D0D0D"/>
                </a:solidFill>
                <a:latin typeface="Times New Roman" panose="02020603050405020304" pitchFamily="18" charset="0"/>
                <a:cs typeface="Times New Roman" panose="02020603050405020304" pitchFamily="18" charset="0"/>
              </a:rPr>
              <a:t>Github</a:t>
            </a:r>
            <a:r>
              <a:rPr lang="en-US" sz="2800" dirty="0">
                <a:solidFill>
                  <a:srgbClr val="0D0D0D"/>
                </a:solidFill>
                <a:latin typeface="Times New Roman" panose="02020603050405020304" pitchFamily="18" charset="0"/>
                <a:cs typeface="Times New Roman" panose="02020603050405020304" pitchFamily="18" charset="0"/>
              </a:rPr>
              <a:t> Link</a:t>
            </a: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834072" y="575055"/>
            <a:ext cx="5636895"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sp>
        <p:nvSpPr>
          <p:cNvPr id="12" name="Text Box 11"/>
          <p:cNvSpPr txBox="1"/>
          <p:nvPr/>
        </p:nvSpPr>
        <p:spPr>
          <a:xfrm>
            <a:off x="1476375" y="1905000"/>
            <a:ext cx="6782435" cy="2954020"/>
          </a:xfrm>
          <a:prstGeom prst="rect">
            <a:avLst/>
          </a:prstGeom>
          <a:noFill/>
        </p:spPr>
        <p:txBody>
          <a:bodyPr wrap="square" rtlCol="0" anchor="t">
            <a:noAutofit/>
          </a:bodyPr>
          <a:lstStyle/>
          <a:p>
            <a:endParaRPr lang="en-US" altLang="en-GB"/>
          </a:p>
          <a:p>
            <a:r>
              <a:rPr lang="en-US" altLang="en-GB" sz="2000"/>
              <a:t>In modern web design, providing a smooth and interactive user experience is essential, especially on mobile devices. Many websites lack responsive navigation and engaging animations, leading to poor usability. The challenge is to implement a dynamic navigation menu and visually appealing content transitions that enhance user engagement. This project addresses the need for interactive UI by integrating JavaScript-based menu toggling and scroll-triggered animations. The aim is to improve user navigation and content visibility across devices.</a:t>
            </a:r>
          </a:p>
          <a:p>
            <a:endParaRPr lang="en-US" altLang="en-GB" sz="2000"/>
          </a:p>
          <a:p>
            <a:endParaRPr lang="en-GB" alt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6" name="object 6"/>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7" name="object 7"/>
          <p:cNvSpPr txBox="1">
            <a:spLocks noGrp="1"/>
          </p:cNvSpPr>
          <p:nvPr>
            <p:ph type="title"/>
          </p:nvPr>
        </p:nvSpPr>
        <p:spPr>
          <a:xfrm>
            <a:off x="739775" y="829627"/>
            <a:ext cx="5263515" cy="678180"/>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sp>
        <p:nvSpPr>
          <p:cNvPr id="9" name="Text Box 8"/>
          <p:cNvSpPr txBox="1"/>
          <p:nvPr/>
        </p:nvSpPr>
        <p:spPr>
          <a:xfrm>
            <a:off x="1264285" y="2225040"/>
            <a:ext cx="6450965" cy="3463925"/>
          </a:xfrm>
          <a:prstGeom prst="rect">
            <a:avLst/>
          </a:prstGeom>
          <a:noFill/>
        </p:spPr>
        <p:txBody>
          <a:bodyPr wrap="square" rtlCol="0">
            <a:noAutofit/>
          </a:bodyPr>
          <a:lstStyle/>
          <a:p>
            <a:r>
              <a:rPr lang="en-US" altLang="en-GB" sz="2000"/>
              <a:t>This project focuses on enhancing a website’s user interface using JavaScript. It implements a responsive navigation menu that toggles on mobile view for better accessibility. ScrollReveal.js is used to animate content as the user scrolls, adding interactivity and engagement. The code improves usability by combining functionality with visual appeal. It ensures seamless navigation and content visibility across various screen sizes. Overall, the project upgrades user experience through responsive design and smooth animations.</a:t>
            </a:r>
            <a:endParaRPr lang="en-GB" altLang="en-US" sz="2000"/>
          </a:p>
        </p:txBody>
      </p:sp>
      <p:sp>
        <p:nvSpPr>
          <p:cNvPr id="11" name="Text Box 10"/>
          <p:cNvSpPr txBox="1"/>
          <p:nvPr/>
        </p:nvSpPr>
        <p:spPr>
          <a:xfrm>
            <a:off x="3047365" y="6010275"/>
            <a:ext cx="4064000" cy="368300"/>
          </a:xfrm>
          <a:prstGeom prst="rect">
            <a:avLst/>
          </a:prstGeom>
          <a:noFill/>
        </p:spPr>
        <p:txBody>
          <a:bodyPr wrap="square" rtlCol="0">
            <a:spAutoFit/>
          </a:bodyPr>
          <a:lstStyle/>
          <a:p>
            <a:endParaRPr lang="en-GB"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3" name="object 3"/>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xfrm>
            <a:off x="699452" y="891793"/>
            <a:ext cx="5014595" cy="518159"/>
          </a:xfrm>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pic>
        <p:nvPicPr>
          <p:cNvPr id="6" name="object 6"/>
          <p:cNvPicPr/>
          <p:nvPr/>
        </p:nvPicPr>
        <p:blipFill>
          <a:blip r:embed="rId2" cstate="print"/>
          <a:stretch>
            <a:fillRect/>
          </a:stretch>
        </p:blipFill>
        <p:spPr>
          <a:xfrm>
            <a:off x="723900" y="6172200"/>
            <a:ext cx="2181225" cy="485775"/>
          </a:xfrm>
          <a:prstGeom prst="rect">
            <a:avLst/>
          </a:prstGeom>
        </p:spPr>
      </p:pic>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sp>
        <p:nvSpPr>
          <p:cNvPr id="9" name="Text Box 8"/>
          <p:cNvSpPr txBox="1"/>
          <p:nvPr/>
        </p:nvSpPr>
        <p:spPr>
          <a:xfrm>
            <a:off x="1052195" y="2486660"/>
            <a:ext cx="7762240" cy="2171700"/>
          </a:xfrm>
          <a:prstGeom prst="rect">
            <a:avLst/>
          </a:prstGeom>
          <a:noFill/>
        </p:spPr>
        <p:txBody>
          <a:bodyPr wrap="square" rtlCol="0">
            <a:noAutofit/>
          </a:bodyPr>
          <a:lstStyle/>
          <a:p>
            <a:r>
              <a:rPr lang="en-US" altLang="en-GB" sz="2000"/>
              <a:t>The end users of this project are website visitors who access the site from various devices, especially mobile users. These include customers, clients, or general audiences seeking information or services online. Web developers and designers may also benefit by reusing or learning from the interactive features. Users expect fast, easy-to-navigate, and visually appealing websites. This project aims to meet those expectations by enhancing user experience through responsive design and animation</a:t>
            </a:r>
            <a:r>
              <a:rPr lang="en-IN" altLang="en-US" sz="2000"/>
              <a:t>s.</a:t>
            </a:r>
            <a:endParaRPr lang="en-GB" altLang="en-US" sz="2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857885"/>
            <a:ext cx="9763125" cy="575310"/>
          </a:xfrm>
          <a:prstGeom prst="rect">
            <a:avLst/>
          </a:prstGeom>
        </p:spPr>
        <p:txBody>
          <a:bodyPr vert="horz" wrap="square" lIns="0" tIns="13335" rIns="0" bIns="0" rtlCol="0">
            <a:spAutoFit/>
          </a:bodyPr>
          <a:lstStyle/>
          <a:p>
            <a:pPr marL="12700">
              <a:lnSpc>
                <a:spcPct val="100000"/>
              </a:lnSpc>
              <a:spcBef>
                <a:spcPts val="105"/>
              </a:spcBef>
            </a:pPr>
            <a:r>
              <a:rPr lang="en-IN" sz="3600" spc="10" dirty="0"/>
              <a:t>TOOLS AND TECHNIQUES</a:t>
            </a:r>
            <a:endParaRPr sz="3600" dirty="0"/>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sp>
        <p:nvSpPr>
          <p:cNvPr id="8" name="Text Box 7"/>
          <p:cNvSpPr txBox="1"/>
          <p:nvPr/>
        </p:nvSpPr>
        <p:spPr>
          <a:xfrm>
            <a:off x="3625215" y="1974215"/>
            <a:ext cx="5157470" cy="3055620"/>
          </a:xfrm>
          <a:prstGeom prst="rect">
            <a:avLst/>
          </a:prstGeom>
          <a:noFill/>
        </p:spPr>
        <p:txBody>
          <a:bodyPr wrap="square" rtlCol="0">
            <a:noAutofit/>
          </a:bodyPr>
          <a:lstStyle/>
          <a:p>
            <a:pPr marL="285750" indent="-285750">
              <a:buFont typeface="Arial" panose="020B0604020202020204" pitchFamily="34" charset="0"/>
              <a:buChar char="•"/>
            </a:pPr>
            <a:r>
              <a:rPr lang="en-US" altLang="en-GB" sz="2000"/>
              <a:t> HTML, CSS, JavaScript – Core technologies used for structure, styling, and interactivity.</a:t>
            </a:r>
          </a:p>
          <a:p>
            <a:pPr marL="285750" indent="-285750">
              <a:buFont typeface="Arial" panose="020B0604020202020204" pitchFamily="34" charset="0"/>
              <a:buChar char="•"/>
            </a:pPr>
            <a:r>
              <a:rPr lang="en-US" altLang="en-GB" sz="2000"/>
              <a:t>ScrollReveal.js – A JavaScript library used to animate elements on scroll.</a:t>
            </a:r>
          </a:p>
          <a:p>
            <a:pPr marL="285750" indent="-285750">
              <a:buFont typeface="Arial" panose="020B0604020202020204" pitchFamily="34" charset="0"/>
              <a:buChar char="•"/>
            </a:pPr>
            <a:r>
              <a:rPr lang="en-US" altLang="en-GB" sz="2000"/>
              <a:t> Responsive Web Design – Ensures the layout adapts to different screen sizes.</a:t>
            </a:r>
          </a:p>
          <a:p>
            <a:pPr marL="285750" indent="-285750">
              <a:buFont typeface="Arial" panose="020B0604020202020204" pitchFamily="34" charset="0"/>
              <a:buChar char="•"/>
            </a:pPr>
            <a:r>
              <a:rPr lang="en-US" altLang="en-GB" sz="2000"/>
              <a:t> Event Handling in JavaScript – Used for toggling the navigation menu.</a:t>
            </a:r>
          </a:p>
          <a:p>
            <a:pPr marL="285750" indent="-285750">
              <a:buFont typeface="Arial" panose="020B0604020202020204" pitchFamily="34" charset="0"/>
              <a:buChar char="•"/>
            </a:pPr>
            <a:r>
              <a:rPr lang="en-US" altLang="en-GB" sz="2000"/>
              <a:t> DOM Manipulation – Enables dynamic updates to elements like icons and menus.</a:t>
            </a:r>
            <a:endParaRPr lang="en-GB" altLang="en-US" sz="2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panose="020B0603020202020204"/>
                <a:cs typeface="Trebuchet MS" panose="020B0603020202020204"/>
              </a:rPr>
              <a:t>8</a:t>
            </a:fld>
            <a:endParaRPr sz="1100">
              <a:latin typeface="Trebuchet MS" panose="020B0603020202020204"/>
              <a:cs typeface="Trebuchet MS" panose="020B0603020202020204"/>
            </a:endParaRPr>
          </a:p>
        </p:txBody>
      </p:sp>
      <p:sp>
        <p:nvSpPr>
          <p:cNvPr id="8" name="object 8"/>
          <p:cNvSpPr txBox="1"/>
          <p:nvPr/>
        </p:nvSpPr>
        <p:spPr>
          <a:xfrm>
            <a:off x="739775" y="291147"/>
            <a:ext cx="8794750" cy="628650"/>
          </a:xfrm>
          <a:prstGeom prst="rect">
            <a:avLst/>
          </a:prstGeom>
        </p:spPr>
        <p:txBody>
          <a:bodyPr vert="horz" wrap="square" lIns="0" tIns="13335" rIns="0" bIns="0" rtlCol="0">
            <a:spAutoFit/>
          </a:bodyPr>
          <a:lstStyle/>
          <a:p>
            <a:pPr marL="12700">
              <a:lnSpc>
                <a:spcPct val="100000"/>
              </a:lnSpc>
              <a:spcBef>
                <a:spcPts val="105"/>
              </a:spcBef>
            </a:pPr>
            <a:r>
              <a:rPr lang="en-IN" sz="4000" b="1" spc="15" dirty="0">
                <a:latin typeface="Trebuchet MS" panose="020B0603020202020204"/>
                <a:cs typeface="Trebuchet MS" panose="020B0603020202020204"/>
              </a:rPr>
              <a:t>PORTFOLIO DESIGN AND LAYOUT</a:t>
            </a:r>
            <a:endParaRPr sz="4000" dirty="0">
              <a:latin typeface="Trebuchet MS" panose="020B0603020202020204"/>
              <a:cs typeface="Trebuchet MS" panose="020B0603020202020204"/>
            </a:endParaRPr>
          </a:p>
        </p:txBody>
      </p:sp>
      <p:sp>
        <p:nvSpPr>
          <p:cNvPr id="14" name="object 3"/>
          <p:cNvSpPr/>
          <p:nvPr/>
        </p:nvSpPr>
        <p:spPr>
          <a:xfrm>
            <a:off x="10058400" y="525141"/>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2" name="Text Box 1"/>
          <p:cNvSpPr txBox="1"/>
          <p:nvPr/>
        </p:nvSpPr>
        <p:spPr>
          <a:xfrm>
            <a:off x="1219835" y="1722120"/>
            <a:ext cx="7853045" cy="2565400"/>
          </a:xfrm>
          <a:prstGeom prst="rect">
            <a:avLst/>
          </a:prstGeom>
          <a:noFill/>
        </p:spPr>
        <p:txBody>
          <a:bodyPr wrap="square" rtlCol="0">
            <a:noAutofit/>
          </a:bodyPr>
          <a:lstStyle/>
          <a:p>
            <a:endParaRPr lang="en-US" altLang="en-GB" sz="2000"/>
          </a:p>
          <a:p>
            <a:r>
              <a:rPr lang="en-US" altLang="en-GB" sz="2000"/>
              <a:t>The portfolio layout is clean, responsive, and user-friendly. It includes a header, about section, services, and a project portfolio grid. The navigation menu is designed for both desktop and mobile views with a toggle feature. ScrollReveal animations enhance the user experience by animating content as users scroll. Cards in the portfolio section are arranged in a grid layout with consistent spacing and visual hierarchy. The design focuses on simplicity, readability, and interactivity</a:t>
            </a:r>
            <a:r>
              <a:rPr lang="en-US" altLang="en-GB"/>
              <a:t>.</a:t>
            </a:r>
            <a:endParaRPr lang="en-GB"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FEATURES AND FUNCTIONALITY</a:t>
            </a:r>
          </a:p>
        </p:txBody>
      </p:sp>
      <p:sp>
        <p:nvSpPr>
          <p:cNvPr id="5" name="Text Box 4"/>
          <p:cNvSpPr txBox="1"/>
          <p:nvPr/>
        </p:nvSpPr>
        <p:spPr>
          <a:xfrm>
            <a:off x="1872615" y="1752600"/>
            <a:ext cx="7298690" cy="3928110"/>
          </a:xfrm>
          <a:prstGeom prst="rect">
            <a:avLst/>
          </a:prstGeom>
          <a:noFill/>
        </p:spPr>
        <p:txBody>
          <a:bodyPr wrap="square" rtlCol="0">
            <a:noAutofit/>
          </a:bodyPr>
          <a:lstStyle/>
          <a:p>
            <a:endParaRPr lang="en-US" altLang="en-GB"/>
          </a:p>
          <a:p>
            <a:pPr marL="285750" indent="-285750">
              <a:buFont typeface="Arial" panose="020B0604020202020204" pitchFamily="34" charset="0"/>
              <a:buChar char="•"/>
            </a:pPr>
            <a:r>
              <a:rPr lang="en-US" altLang="en-GB" sz="2000"/>
              <a:t>Responsive Navigation Menu – Adapts to mobile and desktop views with toggle functionality.</a:t>
            </a:r>
          </a:p>
          <a:p>
            <a:pPr marL="285750" indent="-285750">
              <a:buFont typeface="Arial" panose="020B0604020202020204" pitchFamily="34" charset="0"/>
              <a:buChar char="•"/>
            </a:pPr>
            <a:r>
              <a:rPr lang="en-US" altLang="en-GB" sz="2000"/>
              <a:t>Dynamic Icon Switching – Menu icon changes between open and close states.</a:t>
            </a:r>
          </a:p>
          <a:p>
            <a:pPr marL="285750" indent="-285750">
              <a:buFont typeface="Arial" panose="020B0604020202020204" pitchFamily="34" charset="0"/>
              <a:buChar char="•"/>
            </a:pPr>
            <a:r>
              <a:rPr lang="en-US" altLang="en-GB" sz="2000"/>
              <a:t>Scroll Animations – Elements appear smoothly as the user scrolls, using ScrollReveal.js.</a:t>
            </a:r>
          </a:p>
          <a:p>
            <a:pPr marL="285750" indent="-285750">
              <a:buFont typeface="Arial" panose="020B0604020202020204" pitchFamily="34" charset="0"/>
              <a:buChar char="•"/>
            </a:pPr>
            <a:r>
              <a:rPr lang="en-US" altLang="en-GB" sz="2000"/>
              <a:t> Interactive UI – Buttons and content respond to user interactions.</a:t>
            </a:r>
          </a:p>
          <a:p>
            <a:pPr marL="285750" indent="-285750">
              <a:buFont typeface="Arial" panose="020B0604020202020204" pitchFamily="34" charset="0"/>
              <a:buChar char="•"/>
            </a:pPr>
            <a:r>
              <a:rPr lang="en-US" altLang="en-GB" sz="2000"/>
              <a:t> Section-Based Layout – Clear structure with header, about, services, and portfolio sections.</a:t>
            </a:r>
          </a:p>
          <a:p>
            <a:pPr marL="285750" indent="-285750">
              <a:buFont typeface="Arial" panose="020B0604020202020204" pitchFamily="34" charset="0"/>
              <a:buChar char="•"/>
            </a:pPr>
            <a:r>
              <a:rPr lang="en-US" altLang="en-GB" sz="2000"/>
              <a:t> Clean Visual Design – Focused on readability and user engagement</a:t>
            </a:r>
            <a:r>
              <a:rPr lang="en-IN" altLang="en-US" sz="200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panose="020B0603020202020204"/>
                <a:cs typeface="Trebuchet MS" panose="020B0603020202020204"/>
              </a:rPr>
              <a:t>3/21/202</a:t>
            </a:r>
            <a:r>
              <a:rPr sz="1100" spc="10" dirty="0">
                <a:solidFill>
                  <a:srgbClr val="2D83C3"/>
                </a:solidFill>
                <a:latin typeface="Trebuchet MS" panose="020B0603020202020204"/>
                <a:cs typeface="Trebuchet MS" panose="020B0603020202020204"/>
              </a:rPr>
              <a:t>4</a:t>
            </a:r>
            <a:r>
              <a:rPr sz="1100" dirty="0">
                <a:solidFill>
                  <a:srgbClr val="2D83C3"/>
                </a:solidFill>
                <a:latin typeface="Trebuchet MS" panose="020B0603020202020204"/>
                <a:cs typeface="Trebuchet MS" panose="020B0603020202020204"/>
              </a:rPr>
              <a:t> </a:t>
            </a:r>
            <a:r>
              <a:rPr sz="1100" spc="130" dirty="0">
                <a:solidFill>
                  <a:srgbClr val="2D83C3"/>
                </a:solidFill>
                <a:latin typeface="Trebuchet MS" panose="020B0603020202020204"/>
                <a:cs typeface="Trebuchet MS" panose="020B0603020202020204"/>
              </a:rPr>
              <a:t> </a:t>
            </a:r>
            <a:r>
              <a:rPr sz="1100" b="1" spc="50" dirty="0">
                <a:solidFill>
                  <a:srgbClr val="2D83C3"/>
                </a:solidFill>
                <a:latin typeface="Trebuchet MS" panose="020B0603020202020204"/>
                <a:cs typeface="Trebuchet MS" panose="020B0603020202020204"/>
              </a:rPr>
              <a:t>A</a:t>
            </a:r>
            <a:r>
              <a:rPr sz="1100" b="1" spc="15" dirty="0">
                <a:solidFill>
                  <a:srgbClr val="2D83C3"/>
                </a:solidFill>
                <a:latin typeface="Trebuchet MS" panose="020B0603020202020204"/>
                <a:cs typeface="Trebuchet MS" panose="020B0603020202020204"/>
              </a:rPr>
              <a:t>nnu</a:t>
            </a:r>
            <a:r>
              <a:rPr sz="1100" b="1" spc="10" dirty="0">
                <a:solidFill>
                  <a:srgbClr val="2D83C3"/>
                </a:solidFill>
                <a:latin typeface="Trebuchet MS" panose="020B0603020202020204"/>
                <a:cs typeface="Trebuchet MS" panose="020B0603020202020204"/>
              </a:rPr>
              <a:t>al</a:t>
            </a:r>
            <a:r>
              <a:rPr sz="1100" b="1" spc="-140" dirty="0">
                <a:solidFill>
                  <a:srgbClr val="2D83C3"/>
                </a:solidFill>
                <a:latin typeface="Trebuchet MS" panose="020B0603020202020204"/>
                <a:cs typeface="Trebuchet MS" panose="020B0603020202020204"/>
              </a:rPr>
              <a:t> </a:t>
            </a:r>
            <a:r>
              <a:rPr sz="1100" b="1" dirty="0">
                <a:solidFill>
                  <a:srgbClr val="2D83C3"/>
                </a:solidFill>
                <a:latin typeface="Trebuchet MS" panose="020B0603020202020204"/>
                <a:cs typeface="Trebuchet MS" panose="020B0603020202020204"/>
              </a:rPr>
              <a:t>R</a:t>
            </a:r>
            <a:r>
              <a:rPr sz="1100" b="1" spc="35" dirty="0">
                <a:solidFill>
                  <a:srgbClr val="2D83C3"/>
                </a:solidFill>
                <a:latin typeface="Trebuchet MS" panose="020B0603020202020204"/>
                <a:cs typeface="Trebuchet MS" panose="020B0603020202020204"/>
              </a:rPr>
              <a:t>e</a:t>
            </a:r>
            <a:r>
              <a:rPr sz="1100" b="1" spc="90" dirty="0">
                <a:solidFill>
                  <a:srgbClr val="2D83C3"/>
                </a:solidFill>
                <a:latin typeface="Trebuchet MS" panose="020B0603020202020204"/>
                <a:cs typeface="Trebuchet MS" panose="020B0603020202020204"/>
              </a:rPr>
              <a:t>v</a:t>
            </a:r>
            <a:r>
              <a:rPr sz="1100" b="1" spc="-35" dirty="0">
                <a:solidFill>
                  <a:srgbClr val="2D83C3"/>
                </a:solidFill>
                <a:latin typeface="Trebuchet MS" panose="020B0603020202020204"/>
                <a:cs typeface="Trebuchet MS" panose="020B0603020202020204"/>
              </a:rPr>
              <a:t>i</a:t>
            </a:r>
            <a:r>
              <a:rPr sz="1100" b="1" spc="35" dirty="0">
                <a:solidFill>
                  <a:srgbClr val="2D83C3"/>
                </a:solidFill>
                <a:latin typeface="Trebuchet MS" panose="020B0603020202020204"/>
                <a:cs typeface="Trebuchet MS" panose="020B0603020202020204"/>
              </a:rPr>
              <a:t>e</a:t>
            </a:r>
            <a:r>
              <a:rPr sz="1100" b="1" spc="15" dirty="0">
                <a:solidFill>
                  <a:srgbClr val="2D83C3"/>
                </a:solidFill>
                <a:latin typeface="Trebuchet MS" panose="020B0603020202020204"/>
                <a:cs typeface="Trebuchet MS" panose="020B0603020202020204"/>
              </a:rPr>
              <a:t>w</a:t>
            </a:r>
            <a:endParaRPr sz="1100">
              <a:latin typeface="Trebuchet MS" panose="020B0603020202020204"/>
              <a:cs typeface="Trebuchet MS" panose="020B0603020202020204"/>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739775" y="654938"/>
            <a:ext cx="8480425" cy="670696"/>
          </a:xfrm>
          <a:prstGeom prst="rect">
            <a:avLst/>
          </a:prstGeom>
        </p:spPr>
        <p:txBody>
          <a:bodyPr vert="horz" wrap="square" lIns="0" tIns="16510" rIns="0" bIns="0" rtlCol="0">
            <a:spAutoFit/>
          </a:bodyPr>
          <a:lstStyle/>
          <a:p>
            <a:pPr marL="12700">
              <a:lnSpc>
                <a:spcPct val="100000"/>
              </a:lnSpc>
              <a:spcBef>
                <a:spcPts val="130"/>
              </a:spcBef>
            </a:pPr>
            <a:r>
              <a:rPr lang="en-IN" sz="4250" spc="15" dirty="0"/>
              <a:t>RESULTS AND SCREENSHOTS</a:t>
            </a:r>
            <a:endParaRPr sz="4250" dirty="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panose="020B0603020202020204"/>
                <a:cs typeface="Trebuchet MS" panose="020B0603020202020204"/>
              </a:rPr>
              <a:t>10</a:t>
            </a:fld>
            <a:endParaRPr sz="1100">
              <a:latin typeface="Trebuchet MS" panose="020B0603020202020204"/>
              <a:cs typeface="Trebuchet MS" panose="020B0603020202020204"/>
            </a:endParaRPr>
          </a:p>
        </p:txBody>
      </p:sp>
      <p:sp>
        <p:nvSpPr>
          <p:cNvPr id="9" name="TextBox 8"/>
          <p:cNvSpPr txBox="1"/>
          <p:nvPr/>
        </p:nvSpPr>
        <p:spPr>
          <a:xfrm>
            <a:off x="2743200" y="2354703"/>
            <a:ext cx="8534018" cy="954107"/>
          </a:xfrm>
          <a:prstGeom prst="rect">
            <a:avLst/>
          </a:prstGeom>
          <a:noFill/>
        </p:spPr>
        <p:txBody>
          <a:bodyPr wrap="square" rtlCol="0">
            <a:spAutoFit/>
          </a:bodyPr>
          <a:lstStyle/>
          <a:p>
            <a:pPr algn="l">
              <a:buFont typeface="Arial" panose="020B0604020202020204" pitchFamily="34" charset="0"/>
              <a:buChar char="•"/>
            </a:pP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8400" y="1695450"/>
            <a:ext cx="5246369" cy="2633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Rectangle 9"/>
          <p:cNvSpPr/>
          <p:nvPr/>
        </p:nvSpPr>
        <p:spPr>
          <a:xfrm>
            <a:off x="2438400" y="5209410"/>
            <a:ext cx="6915150" cy="369332"/>
          </a:xfrm>
          <a:prstGeom prst="rect">
            <a:avLst/>
          </a:prstGeom>
        </p:spPr>
        <p:txBody>
          <a:bodyPr wrap="square">
            <a:spAutoFit/>
          </a:bodyPr>
          <a:lstStyle/>
          <a:p>
            <a:pPr marL="285750" indent="-285750">
              <a:buFont typeface="Arial" pitchFamily="34" charset="0"/>
              <a:buChar char="•"/>
            </a:pPr>
            <a:r>
              <a:rPr lang="en-GB" b="1" dirty="0"/>
              <a:t>https://codepen.io/LMonika-Monika/pen/VYvBzNg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6696075" y="1695450"/>
            <a:ext cx="314325" cy="323850"/>
          </a:xfrm>
          <a:custGeom>
            <a:avLst/>
            <a:gdLst/>
            <a:ahLst/>
            <a:cxnLst/>
            <a:rect l="l" t="t" r="r" b="b"/>
            <a:pathLst>
              <a:path w="314325" h="323850">
                <a:moveTo>
                  <a:pt x="314325" y="0"/>
                </a:moveTo>
                <a:lnTo>
                  <a:pt x="0" y="0"/>
                </a:lnTo>
                <a:lnTo>
                  <a:pt x="0" y="323850"/>
                </a:lnTo>
                <a:lnTo>
                  <a:pt x="314325" y="323850"/>
                </a:lnTo>
                <a:lnTo>
                  <a:pt x="314325" y="0"/>
                </a:lnTo>
                <a:close/>
              </a:path>
            </a:pathLst>
          </a:custGeom>
          <a:solidFill>
            <a:srgbClr val="2D83C3"/>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755332" y="385444"/>
            <a:ext cx="4578668" cy="752129"/>
          </a:xfrm>
          <a:prstGeom prst="rect">
            <a:avLst/>
          </a:prstGeom>
        </p:spPr>
        <p:txBody>
          <a:bodyPr vert="horz" wrap="square" lIns="0" tIns="13335" rIns="0" bIns="0" rtlCol="0">
            <a:spAutoFit/>
          </a:bodyPr>
          <a:lstStyle/>
          <a:p>
            <a:pPr marL="12700">
              <a:lnSpc>
                <a:spcPct val="100000"/>
              </a:lnSpc>
              <a:spcBef>
                <a:spcPts val="105"/>
              </a:spcBef>
            </a:pPr>
            <a:r>
              <a:rPr lang="en-IN" dirty="0"/>
              <a:t>CONCLUSION</a:t>
            </a:r>
            <a:endParaRPr dirty="0"/>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panose="020B0603020202020204"/>
                <a:cs typeface="Trebuchet MS" panose="020B0603020202020204"/>
              </a:rPr>
              <a:t>11</a:t>
            </a:fld>
            <a:endParaRPr sz="1100">
              <a:latin typeface="Trebuchet MS" panose="020B0603020202020204"/>
              <a:cs typeface="Trebuchet MS" panose="020B0603020202020204"/>
            </a:endParaRPr>
          </a:p>
        </p:txBody>
      </p:sp>
      <p:sp>
        <p:nvSpPr>
          <p:cNvPr id="2" name="Text Box 1"/>
          <p:cNvSpPr txBox="1"/>
          <p:nvPr/>
        </p:nvSpPr>
        <p:spPr>
          <a:xfrm>
            <a:off x="1978660" y="1889760"/>
            <a:ext cx="7078345" cy="2676525"/>
          </a:xfrm>
          <a:prstGeom prst="rect">
            <a:avLst/>
          </a:prstGeom>
          <a:noFill/>
        </p:spPr>
        <p:txBody>
          <a:bodyPr wrap="square" rtlCol="0">
            <a:spAutoFit/>
          </a:bodyPr>
          <a:lstStyle/>
          <a:p>
            <a:endParaRPr lang="en-US" altLang="en-GB" sz="2400"/>
          </a:p>
          <a:p>
            <a:r>
              <a:rPr lang="en-US" altLang="en-GB" sz="2400"/>
              <a:t>This project successfully enhances the user interface </a:t>
            </a:r>
            <a:r>
              <a:rPr lang="en-US" altLang="en-GB" sz="2000"/>
              <a:t>with </a:t>
            </a:r>
            <a:r>
              <a:rPr lang="en-US" altLang="en-GB" sz="2400"/>
              <a:t>responsive design and smooth scroll animations. It improves navigation and overall user engagement across devices. The implementation demonstrates how simple JavaScript and animation libraries can create a modern, interactive web experience.</a:t>
            </a:r>
            <a:endParaRPr lang="en-GB" altLang="en-US" sz="24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TotalTime>
  <Words>628</Words>
  <Application>Microsoft Office PowerPoint</Application>
  <PresentationFormat>Custom</PresentationFormat>
  <Paragraphs>63</Paragraphs>
  <Slides>11</Slides>
  <Notes>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Digital Portfolio  </vt:lpstr>
      <vt:lpstr>PROJECT TITLE                                                      </vt:lpstr>
      <vt:lpstr>AGENDA</vt:lpstr>
      <vt:lpstr>PROBLEM STATEMENT</vt:lpstr>
      <vt:lpstr>PROJECT OVERVIEW</vt:lpstr>
      <vt:lpstr>WHO ARE THE END USERS?</vt:lpstr>
      <vt:lpstr>TOOLS AND TECHNIQUES</vt:lpstr>
      <vt:lpstr>PowerPoint Presentation</vt:lpstr>
      <vt:lpstr>FEATURES AND FUNCTIONALITY</vt:lpstr>
      <vt:lpstr>RESULTS AND SCREENSHOTS</vt:lpstr>
      <vt:lpstr>CONCLUSION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Convolutional Neural Network (CNN)</dc:title>
  <dc:creator>Konduru Narasimha</dc:creator>
  <cp:lastModifiedBy>mshome</cp:lastModifiedBy>
  <cp:revision>29</cp:revision>
  <dcterms:created xsi:type="dcterms:W3CDTF">2024-03-29T15:07:00Z</dcterms:created>
  <dcterms:modified xsi:type="dcterms:W3CDTF">2025-08-30T03:31:51Z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2024-03-21T16:30:00Z</vt:filetime>
  </property>
  <property fmtid="{D5CDD505-2E9C-101B-9397-08002B2CF9AE}" pid="3" name="LastSaved">
    <vt:filetime>2024-03-29T16:30:00Z</vt:filetime>
  </property>
  <property fmtid="{D5CDD505-2E9C-101B-9397-08002B2CF9AE}" pid="4" name="ICV">
    <vt:lpwstr>D67FFF50DAC147BF8B29B4AE1978509B_13</vt:lpwstr>
  </property>
  <property fmtid="{D5CDD505-2E9C-101B-9397-08002B2CF9AE}" pid="5" name="KSOProductBuildVer">
    <vt:lpwstr>2057-12.2.0.21936</vt:lpwstr>
  </property>
</Properties>
</file>